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blockr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2448847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697480"/>
            <a:ext cx="104543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600" b="1" spc="-60">
                <a:solidFill>
                  <a:srgbClr val="3C3C43"/>
                </a:solidFill>
                <a:latin typeface="Inter"/>
              </a:rPr>
              <a:t>A visual, no-code framework for R</a:t>
            </a:r>
          </a:p>
          <a:p>
            <a:pPr>
              <a:spcBef>
                <a:spcPts val="1600"/>
              </a:spcBef>
            </a:pPr>
            <a:r>
              <a:rPr sz="2400" b="0">
                <a:solidFill>
                  <a:srgbClr val="67676C"/>
                </a:solidFill>
                <a:latin typeface="Inter SemiBold"/>
              </a:rPr>
              <a:t>Drag analysis steps into interactive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824728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67676C"/>
                </a:solidFill>
                <a:latin typeface="Inter"/>
              </a:rPr>
              <a:t>Developed by</a:t>
            </a:r>
          </a:p>
        </p:txBody>
      </p:sp>
      <p:pic>
        <p:nvPicPr>
          <p:cNvPr id="5" name="Picture 4" descr="logo-cynk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112" y="585216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23160" y="5824728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67676C"/>
                </a:solidFill>
                <a:latin typeface="Inter"/>
              </a:rPr>
              <a:t>and</a:t>
            </a:r>
          </a:p>
        </p:txBody>
      </p:sp>
      <p:pic>
        <p:nvPicPr>
          <p:cNvPr id="7" name="Picture 6" descr="logo-b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888736"/>
            <a:ext cx="1455795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10454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spc="-50">
                <a:solidFill>
                  <a:srgbClr val="3C3C43"/>
                </a:solidFill>
                <a:latin typeface="Inter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45433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Redundancy</a:t>
            </a:r>
            <a:r>
              <a:rPr sz="2200" b="0">
                <a:solidFill>
                  <a:srgbClr val="67676C"/>
                </a:solidFill>
                <a:latin typeface="Inter"/>
              </a:rPr>
              <a:t>: the same dashboards rebuilt over and over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Reusability</a:t>
            </a:r>
            <a:r>
              <a:rPr sz="2200" b="0">
                <a:solidFill>
                  <a:srgbClr val="67676C"/>
                </a:solidFill>
                <a:latin typeface="Inter"/>
              </a:rPr>
              <a:t>: modules too specialised to reuse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Inertia</a:t>
            </a:r>
            <a:r>
              <a:rPr sz="2200" b="0">
                <a:solidFill>
                  <a:srgbClr val="67676C"/>
                </a:solidFill>
                <a:latin typeface="Inter"/>
              </a:rPr>
              <a:t>: weeks of work before anyone sees a result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Reproducibility</a:t>
            </a:r>
            <a:r>
              <a:rPr sz="2200" b="0">
                <a:solidFill>
                  <a:srgbClr val="67676C"/>
                </a:solidFill>
                <a:latin typeface="Inter"/>
              </a:rPr>
              <a:t>: one-off apps no one can rerun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10454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spc="-50">
                <a:solidFill>
                  <a:srgbClr val="3C3C43"/>
                </a:solidFill>
                <a:latin typeface="Inter"/>
              </a:rPr>
              <a:t>A different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83080"/>
            <a:ext cx="10454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>
                <a:solidFill>
                  <a:srgbClr val="3C3C43"/>
                </a:solidFill>
                <a:latin typeface="Inter SemiBold"/>
              </a:rPr>
              <a:t>The people who know the data build the workflow themselves.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1045433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Domain experts</a:t>
            </a:r>
            <a:r>
              <a:rPr sz="2200" b="0">
                <a:solidFill>
                  <a:srgbClr val="67676C"/>
                </a:solidFill>
                <a:latin typeface="Inter"/>
              </a:rPr>
              <a:t>: build the workflow, no deep coding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Speed</a:t>
            </a:r>
            <a:r>
              <a:rPr sz="2200" b="0">
                <a:solidFill>
                  <a:srgbClr val="67676C"/>
                </a:solidFill>
                <a:latin typeface="Inter"/>
              </a:rPr>
              <a:t>: live in hours, not weeks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Pure R</a:t>
            </a:r>
            <a:r>
              <a:rPr sz="2200" b="0">
                <a:solidFill>
                  <a:srgbClr val="67676C"/>
                </a:solidFill>
                <a:latin typeface="Inter"/>
              </a:rPr>
              <a:t>: reproducible and shareable as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10454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spc="-50">
                <a:solidFill>
                  <a:srgbClr val="3C3C43"/>
                </a:solidFill>
                <a:latin typeface="Inter"/>
              </a:rPr>
              <a:t>What is blockr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83080"/>
            <a:ext cx="10454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>
                <a:solidFill>
                  <a:srgbClr val="3C3C43"/>
                </a:solidFill>
                <a:latin typeface="Inter SemiBold"/>
              </a:rPr>
              <a:t>An open-source framework for building R data workflows visually.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1045433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Block</a:t>
            </a:r>
            <a:r>
              <a:rPr sz="2200" b="0">
                <a:solidFill>
                  <a:srgbClr val="67676C"/>
                </a:solidFill>
                <a:latin typeface="Inter"/>
              </a:rPr>
              <a:t>: a single task, like read, filter or plot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Link</a:t>
            </a:r>
            <a:r>
              <a:rPr sz="2200" b="0">
                <a:solidFill>
                  <a:srgbClr val="67676C"/>
                </a:solidFill>
                <a:latin typeface="Inter"/>
              </a:rPr>
              <a:t>: data flowing between blocks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Stack</a:t>
            </a:r>
            <a:r>
              <a:rPr sz="2200" b="0">
                <a:solidFill>
                  <a:srgbClr val="67676C"/>
                </a:solidFill>
                <a:latin typeface="Inter"/>
              </a:rPr>
              <a:t>: a group of blocks that belong together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10454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spc="-50">
                <a:solidFill>
                  <a:srgbClr val="3C3C43"/>
                </a:solidFill>
                <a:latin typeface="Inter"/>
              </a:rPr>
              <a:t>Built for everyone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45433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Block developers</a:t>
            </a:r>
            <a:r>
              <a:rPr sz="2200" b="0">
                <a:solidFill>
                  <a:srgbClr val="67676C"/>
                </a:solidFill>
                <a:latin typeface="Inter"/>
              </a:rPr>
              <a:t>: package custom blocks for your domain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Dashboard builders</a:t>
            </a:r>
            <a:r>
              <a:rPr sz="2200" b="0">
                <a:solidFill>
                  <a:srgbClr val="67676C"/>
                </a:solidFill>
                <a:latin typeface="Inter"/>
              </a:rPr>
              <a:t>: pick blocks, draw links, ship the workflow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Dashboard viewers</a:t>
            </a:r>
            <a:r>
              <a:rPr sz="2200" b="0">
                <a:solidFill>
                  <a:srgbClr val="67676C"/>
                </a:solidFill>
                <a:latin typeface="Inter"/>
              </a:rPr>
              <a:t>: explore prebuilt boards, no R required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Decision makers</a:t>
            </a:r>
            <a:r>
              <a:rPr sz="2200" b="0">
                <a:solidFill>
                  <a:srgbClr val="67676C"/>
                </a:solidFill>
                <a:latin typeface="Inter"/>
              </a:rPr>
              <a:t>: act on what the data shows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10454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spc="-50">
                <a:solidFill>
                  <a:srgbClr val="3C3C43"/>
                </a:solidFill>
                <a:latin typeface="Inter"/>
              </a:rPr>
              <a:t>Why blockr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45433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Hours, not weeks</a:t>
            </a:r>
            <a:r>
              <a:rPr sz="2200" b="0">
                <a:solidFill>
                  <a:srgbClr val="67676C"/>
                </a:solidFill>
                <a:latin typeface="Inter"/>
              </a:rPr>
              <a:t>: from idea to a working dashboard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Anyone on the team</a:t>
            </a:r>
            <a:r>
              <a:rPr sz="2200" b="0">
                <a:solidFill>
                  <a:srgbClr val="67676C"/>
                </a:solidFill>
                <a:latin typeface="Inter"/>
              </a:rPr>
              <a:t>: builds, not only developers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Open source</a:t>
            </a:r>
            <a:r>
              <a:rPr sz="2200" b="0">
                <a:solidFill>
                  <a:srgbClr val="67676C"/>
                </a:solidFill>
                <a:latin typeface="Inter"/>
              </a:rPr>
              <a:t>: on CRAN, GPL-3, no per-seat lock-in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10454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spc="-50">
                <a:solidFill>
                  <a:srgbClr val="3C3C43"/>
                </a:solidFill>
                <a:latin typeface="Inter"/>
              </a:rPr>
              <a:t>blockr +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45433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Author with AI</a:t>
            </a:r>
            <a:r>
              <a:rPr sz="2200" b="0">
                <a:solidFill>
                  <a:srgbClr val="67676C"/>
                </a:solidFill>
                <a:latin typeface="Inter"/>
              </a:rPr>
              <a:t>: describe a workflow, the model writes the blocks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AI inside blocks</a:t>
            </a:r>
            <a:r>
              <a:rPr sz="2200" b="0">
                <a:solidFill>
                  <a:srgbClr val="67676C"/>
                </a:solidFill>
                <a:latin typeface="Inter"/>
              </a:rPr>
              <a:t>: embed model calls as pipeline steps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Inspectable</a:t>
            </a:r>
            <a:r>
              <a:rPr sz="2200" b="0">
                <a:solidFill>
                  <a:srgbClr val="67676C"/>
                </a:solidFill>
                <a:latin typeface="Inter"/>
              </a:rPr>
              <a:t>: every step is a block, exported as plain 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40080"/>
            <a:ext cx="10454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spc="-50">
                <a:solidFill>
                  <a:srgbClr val="3C3C43"/>
                </a:solidFill>
                <a:latin typeface="Inter"/>
              </a:rPr>
              <a:t>Get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45433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Try it online</a:t>
            </a:r>
            <a:r>
              <a:rPr sz="2200" b="0">
                <a:solidFill>
                  <a:srgbClr val="67676C"/>
                </a:solidFill>
                <a:latin typeface="Inter"/>
              </a:rPr>
              <a:t>: blockr.cloud, runs in the browser, no install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Install from R</a:t>
            </a:r>
            <a:r>
              <a:rPr sz="2200" b="0">
                <a:solidFill>
                  <a:srgbClr val="67676C"/>
                </a:solidFill>
                <a:latin typeface="Inter"/>
              </a:rPr>
              <a:t>: install.packages("blockr.core")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2200" b="1">
                <a:solidFill>
                  <a:srgbClr val="3C3C43"/>
                </a:solidFill>
                <a:latin typeface="Inter"/>
              </a:rPr>
              <a:t>Docs and guides</a:t>
            </a:r>
            <a:r>
              <a:rPr sz="2200" b="0">
                <a:solidFill>
                  <a:srgbClr val="67676C"/>
                </a:solidFill>
                <a:latin typeface="Inter"/>
              </a:rPr>
              <a:t>: blockr.site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